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Beitrag</c:v>
                </c:pt>
              </c:strCache>
            </c:strRef>
          </c:tx>
          <c:spPr>
            <a:solidFill>
              <a:srgbClr val="001631"/>
            </a:solidFill>
            <a:ln w="31750" cap="flat">
              <a:solidFill>
                <a:srgbClr val="00163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1631"/>
              </a:solidFill>
              <a:ln w="9525" cap="flat">
                <a:solidFill>
                  <a:srgbClr val="00163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1000</c:v>
                </c:pt>
                <c:pt idx="1">
                  <c:v>960</c:v>
                </c:pt>
                <c:pt idx="2">
                  <c:v>930</c:v>
                </c:pt>
                <c:pt idx="3">
                  <c:v>905</c:v>
                </c:pt>
                <c:pt idx="4">
                  <c:v>885</c:v>
                </c:pt>
                <c:pt idx="5">
                  <c:v>870</c:v>
                </c:pt>
                <c:pt idx="6">
                  <c:v>858</c:v>
                </c:pt>
                <c:pt idx="7">
                  <c:v>850</c:v>
                </c:pt>
                <c:pt idx="8">
                  <c:v>845</c:v>
                </c:pt>
                <c:pt idx="9">
                  <c:v>842</c:v>
                </c:pt>
              </c:numCache>
            </c:numRef>
          </c:val>
          <c:smooth val="0"/>
        </c:ser>
        <c:ser>
          <c:idx val="1"/>
          <c:order val="1"/>
          <c:tx>
            <c:strRef>
              <c:f>Sheet1!$C$1</c:f>
              <c:strCache>
                <c:ptCount val="1"/>
                <c:pt idx="0">
                  <c:v>Tatsächliche Kosten</c:v>
                </c:pt>
              </c:strCache>
            </c:strRef>
          </c:tx>
          <c:spPr>
            <a:solidFill>
              <a:srgbClr val="BF0643"/>
            </a:solidFill>
            <a:ln w="31750" cap="flat">
              <a:solidFill>
                <a:srgbClr val="BF064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F0643"/>
              </a:solidFill>
              <a:ln w="9525" cap="flat">
                <a:solidFill>
                  <a:srgbClr val="BF0643"/>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1010</c:v>
                </c:pt>
                <c:pt idx="1">
                  <c:v>940</c:v>
                </c:pt>
                <c:pt idx="2">
                  <c:v>890</c:v>
                </c:pt>
                <c:pt idx="3">
                  <c:v>850</c:v>
                </c:pt>
                <c:pt idx="4">
                  <c:v>820</c:v>
                </c:pt>
                <c:pt idx="5">
                  <c:v>795</c:v>
                </c:pt>
                <c:pt idx="6">
                  <c:v>778</c:v>
                </c:pt>
                <c:pt idx="7">
                  <c:v>765</c:v>
                </c:pt>
                <c:pt idx="8">
                  <c:v>757</c:v>
                </c:pt>
                <c:pt idx="9">
                  <c:v>752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Vertragsjahr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5060"/>
                </a:solidFill>
                <a:latin typeface="HUK Sans"/>
              </a:defRPr>
            </a:pPr>
            <a:endParaRPr lang="en-US"/>
          </a:p>
        </c:txPr>
        <c:crossAx val="2094734552"/>
        <c:crosses val="autoZero"/>
        <c:auto val="1"/>
        <c:lblAlgn val="ctr"/>
        <c:noMultiLvlLbl val="1"/>
      </c:catAx>
      <c:valAx>
        <c:axId val="2094734552"/>
        <c:scaling>
          <c:orientation val="minMax"/>
          <c:max val="1050"/>
          <c:min val="700"/>
        </c:scaling>
        <c:delete val="0"/>
        <c:axPos val="l"/>
        <c:majorGridlines>
          <c:spPr>
            <a:ln w="6350" cap="flat">
              <a:solidFill>
                <a:srgbClr val="D2E1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A5060"/>
                </a:solidFill>
                <a:latin typeface="HUK Sans"/>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A5060"/>
              </a:solidFill>
              <a:latin typeface="HUK Sans"/>
              <a:cs typeface="HUK San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Kernaussage: Vertragsmerkmale entwickeln sich ueber die Laufzeit guenstig weiter, die Beitragsentwicklung gibt das aber nicht in voller Hoehe weiter. Die tatsaechlichen Kosten sinken schneller als der Beitrag - der Abstand zwischen beiden Linien, also die Marge, waechst. Im ersten Jahr ist sie am duennsten. Da der Kundenwert auf einem einzelnen Jahr gerechnet wird, wird ein Neuvertrag dort systematisch unterbewertet.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Fuer jeden Vertrag werden zwei Ergebnisse berechnet, beide mit dem tatsaechlichen Beitrag als Einnahme. Einmal mit den Kosten des jeweiligen Jahres, einmal mit den Kosten laut Tarifkalkulation - Neutarif-Beitrag mal 0,93. Die 0,93 sind der kalkulatorische Combined Ratio des Neutarifs (cr_neutarif_original). B_NT mal 0,93 ergibt damit die vom Tarif einkalkulierten Schaden- und Kostenanteile - ueber die Laufzeit gerechnet. Der hoehere der beiden Werte zaehlt, die Tarifkalkulation wirkt also als Untergrenze. Offene Punkte nur auf Nachfrage: Vertragsalter geht nicht ein, Differenzierung im Neugeschaeft, Beschraenkung auf Pkw.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Beitrag steht in beiden Rechnungen und kuerzt sich beim Vergleich heraus. Ob die Untergrenze greift, haengt allein davon ab, ob die Best-Estimate-Kosten ueber B_NT mal 0,93 liegen. Beim Neuvertrag ist das der Fall - gewollt. Beim reifen, schadenfreien Vertrag nicht, weil dessen Marge bereits gewachsen ist; das tatsaechliche Ergebnis bleibt sichtbar. Das Verfahren trifft damit ueberwiegend die jungen Vertraege. Zeile 4 zeigt die Ausnahme fuer Zahlungsauffaellige: pauschaler Abzug von 50 Euro, keine Untergrenze.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21770" y="287122"/>
            <a:ext cx="485546" cy="648310"/>
          </a:xfrm>
          <a:prstGeom prst="rect">
            <a:avLst/>
          </a:prstGeom>
          <a:solidFill>
            <a:srgbClr val="F4F7F8"/>
          </a:solidFill>
          <a:ln w="9525">
            <a:solidFill>
              <a:srgbClr val="D2E1E5"/>
            </a:solidFill>
            <a:prstDash val="solid"/>
          </a:ln>
        </p:spPr>
      </p:sp>
      <p:sp>
        <p:nvSpPr>
          <p:cNvPr id="3" name="Text 1"/>
          <p:cNvSpPr/>
          <p:nvPr/>
        </p:nvSpPr>
        <p:spPr>
          <a:xfrm>
            <a:off x="11421770" y="502920"/>
            <a:ext cx="485546" cy="228600"/>
          </a:xfrm>
          <a:prstGeom prst="rect">
            <a:avLst/>
          </a:prstGeom>
          <a:noFill/>
          <a:ln/>
        </p:spPr>
        <p:txBody>
          <a:bodyPr wrap="square" lIns="0" tIns="0" rIns="0" bIns="0" rtlCol="0" anchor="ctr"/>
          <a:lstStyle/>
          <a:p>
            <a:pPr algn="ctr" indent="0" marL="0">
              <a:buNone/>
            </a:pPr>
            <a:r>
              <a:rPr lang="en-US" sz="800" dirty="0">
                <a:solidFill>
                  <a:srgbClr val="6B8A9A"/>
                </a:solidFill>
                <a:latin typeface="HUK Sans" pitchFamily="34" charset="0"/>
                <a:ea typeface="HUK Sans" pitchFamily="34" charset="-122"/>
                <a:cs typeface="HUK Sans" pitchFamily="34" charset="-120"/>
              </a:rPr>
              <a:t>Logo</a:t>
            </a:r>
            <a:endParaRPr lang="en-US" sz="800" dirty="0"/>
          </a:p>
        </p:txBody>
      </p:sp>
      <p:sp>
        <p:nvSpPr>
          <p:cNvPr id="4" name="Text 2"/>
          <p:cNvSpPr/>
          <p:nvPr/>
        </p:nvSpPr>
        <p:spPr>
          <a:xfrm>
            <a:off x="273406" y="1005840"/>
            <a:ext cx="10223906" cy="274320"/>
          </a:xfrm>
          <a:prstGeom prst="rect">
            <a:avLst/>
          </a:prstGeom>
          <a:noFill/>
          <a:ln/>
        </p:spPr>
        <p:txBody>
          <a:bodyPr wrap="square" lIns="0" tIns="0" rIns="0" bIns="0" rtlCol="0" anchor="ctr"/>
          <a:lstStyle/>
          <a:p>
            <a:pPr indent="0" marL="0">
              <a:buNone/>
            </a:pPr>
            <a:r>
              <a:rPr lang="en-US" sz="1300" i="1" dirty="0">
                <a:solidFill>
                  <a:srgbClr val="2F6C7A"/>
                </a:solidFill>
                <a:latin typeface="HUK Sans" pitchFamily="34" charset="0"/>
                <a:ea typeface="HUK Sans" pitchFamily="34" charset="-122"/>
                <a:cs typeface="HUK Sans" pitchFamily="34" charset="-120"/>
              </a:rPr>
              <a:t>Die Marge eines Vertrags wächst über die Laufzeit — im ersten Jahr ist sie am dünnsten</a:t>
            </a:r>
            <a:endParaRPr lang="en-US" sz="1300" dirty="0"/>
          </a:p>
        </p:txBody>
      </p:sp>
      <p:sp>
        <p:nvSpPr>
          <p:cNvPr id="5" name="Text 3"/>
          <p:cNvSpPr/>
          <p:nvPr/>
        </p:nvSpPr>
        <p:spPr>
          <a:xfrm>
            <a:off x="273406" y="6547104"/>
            <a:ext cx="7315200" cy="228600"/>
          </a:xfrm>
          <a:prstGeom prst="rect">
            <a:avLst/>
          </a:prstGeom>
          <a:noFill/>
          <a:ln/>
        </p:spPr>
        <p:txBody>
          <a:bodyPr wrap="square" lIns="0" tIns="0" rIns="0" bIns="0" rtlCol="0" anchor="ctr"/>
          <a:lstStyle/>
          <a:p>
            <a:pPr indent="0" marL="0">
              <a:buNone/>
            </a:pPr>
            <a:r>
              <a:rPr lang="en-US" sz="900" dirty="0">
                <a:solidFill>
                  <a:srgbClr val="6B8A9A"/>
                </a:solidFill>
                <a:latin typeface="HUK Sans" pitchFamily="34" charset="0"/>
                <a:ea typeface="HUK Sans" pitchFamily="34" charset="-122"/>
                <a:cs typeface="HUK Sans" pitchFamily="34" charset="-120"/>
              </a:rPr>
              <a:t>Kundenwert · Bewertung von Neuverträgen</a:t>
            </a:r>
            <a:endParaRPr lang="en-US" sz="900" dirty="0"/>
          </a:p>
        </p:txBody>
      </p:sp>
      <p:sp>
        <p:nvSpPr>
          <p:cNvPr id="6" name="Text 4"/>
          <p:cNvSpPr/>
          <p:nvPr/>
        </p:nvSpPr>
        <p:spPr>
          <a:xfrm>
            <a:off x="11338560" y="6547104"/>
            <a:ext cx="548640" cy="228600"/>
          </a:xfrm>
          <a:prstGeom prst="rect">
            <a:avLst/>
          </a:prstGeom>
          <a:noFill/>
          <a:ln/>
        </p:spPr>
        <p:txBody>
          <a:bodyPr wrap="square" lIns="0" tIns="0" rIns="0" bIns="0" rtlCol="0" anchor="ctr"/>
          <a:lstStyle/>
          <a:p>
            <a:pPr algn="r" indent="0" marL="0">
              <a:buNone/>
            </a:pPr>
            <a:r>
              <a:rPr lang="en-US" sz="900" dirty="0">
                <a:solidFill>
                  <a:srgbClr val="6B8A9A"/>
                </a:solidFill>
                <a:latin typeface="HUK Sans" pitchFamily="34" charset="0"/>
                <a:ea typeface="HUK Sans" pitchFamily="34" charset="-122"/>
                <a:cs typeface="HUK Sans" pitchFamily="34" charset="-120"/>
              </a:rPr>
              <a:t>1</a:t>
            </a:r>
            <a:endParaRPr lang="en-US" sz="900" dirty="0"/>
          </a:p>
        </p:txBody>
      </p:sp>
      <p:sp>
        <p:nvSpPr>
          <p:cNvPr id="7" name="Text 5"/>
          <p:cNvSpPr/>
          <p:nvPr/>
        </p:nvSpPr>
        <p:spPr>
          <a:xfrm>
            <a:off x="273406" y="384048"/>
            <a:ext cx="10223906" cy="658368"/>
          </a:xfrm>
          <a:prstGeom prst="rect">
            <a:avLst/>
          </a:prstGeom>
          <a:noFill/>
          <a:ln/>
        </p:spPr>
        <p:txBody>
          <a:bodyPr wrap="square" lIns="0" tIns="0" rIns="0" bIns="0" rtlCol="0" anchor="ctr"/>
          <a:lstStyle/>
          <a:p>
            <a:pPr indent="0" marL="0">
              <a:buNone/>
            </a:pPr>
            <a:r>
              <a:rPr lang="en-US" sz="3200" b="1" dirty="0">
                <a:solidFill>
                  <a:srgbClr val="001631"/>
                </a:solidFill>
                <a:latin typeface="HUK Sans Black" pitchFamily="34" charset="0"/>
                <a:ea typeface="HUK Sans Black" pitchFamily="34" charset="-122"/>
                <a:cs typeface="HUK Sans Black" pitchFamily="34" charset="-120"/>
              </a:rPr>
              <a:t>Warum Neuverträge zu niedrig aussehen</a:t>
            </a:r>
            <a:endParaRPr lang="en-US" sz="3200" dirty="0"/>
          </a:p>
        </p:txBody>
      </p:sp>
      <p:sp>
        <p:nvSpPr>
          <p:cNvPr id="8" name="Text 6"/>
          <p:cNvSpPr/>
          <p:nvPr/>
        </p:nvSpPr>
        <p:spPr>
          <a:xfrm>
            <a:off x="502920" y="1536192"/>
            <a:ext cx="5852160" cy="274320"/>
          </a:xfrm>
          <a:prstGeom prst="rect">
            <a:avLst/>
          </a:prstGeom>
          <a:noFill/>
          <a:ln/>
        </p:spPr>
        <p:txBody>
          <a:bodyPr wrap="square" lIns="0" tIns="0" rIns="0" bIns="0" rtlCol="0" anchor="ctr"/>
          <a:lstStyle/>
          <a:p>
            <a:pPr indent="0" marL="0">
              <a:buNone/>
            </a:pPr>
            <a:r>
              <a:rPr lang="en-US" sz="1500" b="1" dirty="0">
                <a:solidFill>
                  <a:srgbClr val="001631"/>
                </a:solidFill>
                <a:latin typeface="HUK Sans Black" pitchFamily="34" charset="0"/>
                <a:ea typeface="HUK Sans Black" pitchFamily="34" charset="-122"/>
                <a:cs typeface="HUK Sans Black" pitchFamily="34" charset="-120"/>
              </a:rPr>
              <a:t>Beitrag und Kosten über die Vertragsjahre</a:t>
            </a:r>
            <a:endParaRPr lang="en-US" sz="1500" dirty="0"/>
          </a:p>
        </p:txBody>
      </p:sp>
      <p:graphicFrame>
        <p:nvGraphicFramePr>
          <p:cNvPr id="9" name="Chart 0" descr=""/>
          <p:cNvGraphicFramePr/>
          <p:nvPr/>
        </p:nvGraphicFramePr>
        <p:xfrm>
          <a:off x="365760" y="1874520"/>
          <a:ext cx="6126480" cy="30175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502920" y="4983480"/>
            <a:ext cx="5852160" cy="320040"/>
          </a:xfrm>
          <a:prstGeom prst="rect">
            <a:avLst/>
          </a:prstGeom>
          <a:noFill/>
          <a:ln/>
        </p:spPr>
        <p:txBody>
          <a:bodyPr wrap="square" lIns="0" tIns="0" rIns="0" bIns="0" rtlCol="0" anchor="ctr"/>
          <a:lstStyle/>
          <a:p>
            <a:pPr indent="0" marL="0">
              <a:buNone/>
            </a:pPr>
            <a:r>
              <a:rPr lang="en-US" sz="1200" i="1" dirty="0">
                <a:solidFill>
                  <a:srgbClr val="3A5060"/>
                </a:solidFill>
                <a:latin typeface="HUK Sans" pitchFamily="34" charset="0"/>
                <a:ea typeface="HUK Sans" pitchFamily="34" charset="-122"/>
                <a:cs typeface="HUK Sans" pitchFamily="34" charset="-120"/>
              </a:rPr>
              <a:t>Der Abstand zwischen beiden Linien ist die Marge — im ersten Jahr nahe null, danach wachsend.</a:t>
            </a:r>
            <a:endParaRPr lang="en-US" sz="1200" dirty="0"/>
          </a:p>
        </p:txBody>
      </p:sp>
      <p:sp>
        <p:nvSpPr>
          <p:cNvPr id="11" name="Shape 8"/>
          <p:cNvSpPr/>
          <p:nvPr/>
        </p:nvSpPr>
        <p:spPr>
          <a:xfrm>
            <a:off x="6720840" y="1481328"/>
            <a:ext cx="5166360" cy="1481328"/>
          </a:xfrm>
          <a:prstGeom prst="roundRect">
            <a:avLst>
              <a:gd name="adj" fmla="val 3704"/>
            </a:avLst>
          </a:prstGeom>
          <a:solidFill>
            <a:srgbClr val="F4F7F8"/>
          </a:solidFill>
          <a:ln w="12700">
            <a:solidFill>
              <a:srgbClr val="D2E1E5"/>
            </a:solidFill>
            <a:prstDash val="solid"/>
          </a:ln>
        </p:spPr>
      </p:sp>
      <p:sp>
        <p:nvSpPr>
          <p:cNvPr id="12" name="Shape 9"/>
          <p:cNvSpPr/>
          <p:nvPr/>
        </p:nvSpPr>
        <p:spPr>
          <a:xfrm>
            <a:off x="6949440" y="1737360"/>
            <a:ext cx="365760" cy="365760"/>
          </a:xfrm>
          <a:prstGeom prst="ellipse">
            <a:avLst/>
          </a:prstGeom>
          <a:solidFill>
            <a:srgbClr val="2F6C7A"/>
          </a:solidFill>
          <a:ln w="12700">
            <a:solidFill>
              <a:srgbClr val="2F6C7A"/>
            </a:solidFill>
            <a:prstDash val="solid"/>
          </a:ln>
        </p:spPr>
      </p:sp>
      <p:sp>
        <p:nvSpPr>
          <p:cNvPr id="13" name="Text 10"/>
          <p:cNvSpPr/>
          <p:nvPr/>
        </p:nvSpPr>
        <p:spPr>
          <a:xfrm>
            <a:off x="6949440" y="1792224"/>
            <a:ext cx="36576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HUK Sans" pitchFamily="34" charset="0"/>
                <a:ea typeface="HUK Sans" pitchFamily="34" charset="-122"/>
                <a:cs typeface="HUK Sans" pitchFamily="34" charset="-120"/>
              </a:rPr>
              <a:t>1</a:t>
            </a:r>
            <a:endParaRPr lang="en-US" sz="1300" dirty="0"/>
          </a:p>
        </p:txBody>
      </p:sp>
      <p:sp>
        <p:nvSpPr>
          <p:cNvPr id="14" name="Text 11"/>
          <p:cNvSpPr/>
          <p:nvPr/>
        </p:nvSpPr>
        <p:spPr>
          <a:xfrm>
            <a:off x="7470648" y="1664208"/>
            <a:ext cx="4206240" cy="274320"/>
          </a:xfrm>
          <a:prstGeom prst="rect">
            <a:avLst/>
          </a:prstGeom>
          <a:noFill/>
          <a:ln/>
        </p:spPr>
        <p:txBody>
          <a:bodyPr wrap="square" lIns="0" tIns="0" rIns="0" bIns="0" rtlCol="0" anchor="ctr"/>
          <a:lstStyle/>
          <a:p>
            <a:pPr indent="0" marL="0">
              <a:buNone/>
            </a:pPr>
            <a:r>
              <a:rPr lang="en-US" sz="1300" b="1" dirty="0">
                <a:solidFill>
                  <a:srgbClr val="001631"/>
                </a:solidFill>
                <a:latin typeface="HUK Sans Black" pitchFamily="34" charset="0"/>
                <a:ea typeface="HUK Sans Black" pitchFamily="34" charset="-122"/>
                <a:cs typeface="HUK Sans Black" pitchFamily="34" charset="-120"/>
              </a:rPr>
              <a:t>Beiträge folgen dem Risiko nur verzögert</a:t>
            </a:r>
            <a:endParaRPr lang="en-US" sz="1300" dirty="0"/>
          </a:p>
        </p:txBody>
      </p:sp>
      <p:sp>
        <p:nvSpPr>
          <p:cNvPr id="15" name="Text 12"/>
          <p:cNvSpPr/>
          <p:nvPr/>
        </p:nvSpPr>
        <p:spPr>
          <a:xfrm>
            <a:off x="7470648" y="2011680"/>
            <a:ext cx="4206240" cy="841248"/>
          </a:xfrm>
          <a:prstGeom prst="rect">
            <a:avLst/>
          </a:prstGeom>
          <a:noFill/>
          <a:ln/>
        </p:spPr>
        <p:txBody>
          <a:bodyPr wrap="square" lIns="0" tIns="0" rIns="0" bIns="0" rtlCol="0" anchor="ctr"/>
          <a:lstStyle/>
          <a:p>
            <a:pPr indent="0" marL="0">
              <a:lnSpc>
                <a:spcPct val="110000"/>
              </a:lnSpc>
              <a:buNone/>
            </a:pPr>
            <a:r>
              <a:rPr lang="en-US" sz="1150" dirty="0">
                <a:solidFill>
                  <a:srgbClr val="3A5060"/>
                </a:solidFill>
                <a:latin typeface="HUK Sans" pitchFamily="34" charset="0"/>
                <a:ea typeface="HUK Sans" pitchFamily="34" charset="-122"/>
                <a:cs typeface="HUK Sans" pitchFamily="34" charset="-120"/>
              </a:rPr>
              <a:t>Vertragsmerkmale entwickeln sich über die Jahre günstig weiter. Die Beitragsentwicklung bildet das nicht in voller Höhe ab — die tatsächlichen Kosten sinken schneller.</a:t>
            </a:r>
            <a:endParaRPr lang="en-US" sz="1150" dirty="0"/>
          </a:p>
        </p:txBody>
      </p:sp>
      <p:sp>
        <p:nvSpPr>
          <p:cNvPr id="16" name="Shape 13"/>
          <p:cNvSpPr/>
          <p:nvPr/>
        </p:nvSpPr>
        <p:spPr>
          <a:xfrm>
            <a:off x="6720840" y="3090672"/>
            <a:ext cx="5166360" cy="1481328"/>
          </a:xfrm>
          <a:prstGeom prst="roundRect">
            <a:avLst>
              <a:gd name="adj" fmla="val 3704"/>
            </a:avLst>
          </a:prstGeom>
          <a:solidFill>
            <a:srgbClr val="F4F7F8"/>
          </a:solidFill>
          <a:ln w="12700">
            <a:solidFill>
              <a:srgbClr val="D2E1E5"/>
            </a:solidFill>
            <a:prstDash val="solid"/>
          </a:ln>
        </p:spPr>
      </p:sp>
      <p:sp>
        <p:nvSpPr>
          <p:cNvPr id="17" name="Shape 14"/>
          <p:cNvSpPr/>
          <p:nvPr/>
        </p:nvSpPr>
        <p:spPr>
          <a:xfrm>
            <a:off x="6949440" y="3346704"/>
            <a:ext cx="365760" cy="365760"/>
          </a:xfrm>
          <a:prstGeom prst="ellipse">
            <a:avLst/>
          </a:prstGeom>
          <a:solidFill>
            <a:srgbClr val="2F6C7A"/>
          </a:solidFill>
          <a:ln w="12700">
            <a:solidFill>
              <a:srgbClr val="2F6C7A"/>
            </a:solidFill>
            <a:prstDash val="solid"/>
          </a:ln>
        </p:spPr>
      </p:sp>
      <p:sp>
        <p:nvSpPr>
          <p:cNvPr id="18" name="Text 15"/>
          <p:cNvSpPr/>
          <p:nvPr/>
        </p:nvSpPr>
        <p:spPr>
          <a:xfrm>
            <a:off x="6949440" y="3401568"/>
            <a:ext cx="36576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HUK Sans" pitchFamily="34" charset="0"/>
                <a:ea typeface="HUK Sans" pitchFamily="34" charset="-122"/>
                <a:cs typeface="HUK Sans" pitchFamily="34" charset="-120"/>
              </a:rPr>
              <a:t>2</a:t>
            </a:r>
            <a:endParaRPr lang="en-US" sz="1300" dirty="0"/>
          </a:p>
        </p:txBody>
      </p:sp>
      <p:sp>
        <p:nvSpPr>
          <p:cNvPr id="19" name="Text 16"/>
          <p:cNvSpPr/>
          <p:nvPr/>
        </p:nvSpPr>
        <p:spPr>
          <a:xfrm>
            <a:off x="7470648" y="3273552"/>
            <a:ext cx="4206240" cy="274320"/>
          </a:xfrm>
          <a:prstGeom prst="rect">
            <a:avLst/>
          </a:prstGeom>
          <a:noFill/>
          <a:ln/>
        </p:spPr>
        <p:txBody>
          <a:bodyPr wrap="square" lIns="0" tIns="0" rIns="0" bIns="0" rtlCol="0" anchor="ctr"/>
          <a:lstStyle/>
          <a:p>
            <a:pPr indent="0" marL="0">
              <a:buNone/>
            </a:pPr>
            <a:r>
              <a:rPr lang="en-US" sz="1300" b="1" dirty="0">
                <a:solidFill>
                  <a:srgbClr val="001631"/>
                </a:solidFill>
                <a:latin typeface="HUK Sans Black" pitchFamily="34" charset="0"/>
                <a:ea typeface="HUK Sans Black" pitchFamily="34" charset="-122"/>
                <a:cs typeface="HUK Sans Black" pitchFamily="34" charset="-120"/>
              </a:rPr>
              <a:t>Die Marge geht damit auseinander</a:t>
            </a:r>
            <a:endParaRPr lang="en-US" sz="1300" dirty="0"/>
          </a:p>
        </p:txBody>
      </p:sp>
      <p:sp>
        <p:nvSpPr>
          <p:cNvPr id="20" name="Text 17"/>
          <p:cNvSpPr/>
          <p:nvPr/>
        </p:nvSpPr>
        <p:spPr>
          <a:xfrm>
            <a:off x="7470648" y="3621024"/>
            <a:ext cx="4206240" cy="841248"/>
          </a:xfrm>
          <a:prstGeom prst="rect">
            <a:avLst/>
          </a:prstGeom>
          <a:noFill/>
          <a:ln/>
        </p:spPr>
        <p:txBody>
          <a:bodyPr wrap="square" lIns="0" tIns="0" rIns="0" bIns="0" rtlCol="0" anchor="ctr"/>
          <a:lstStyle/>
          <a:p>
            <a:pPr indent="0" marL="0">
              <a:lnSpc>
                <a:spcPct val="110000"/>
              </a:lnSpc>
              <a:buNone/>
            </a:pPr>
            <a:r>
              <a:rPr lang="en-US" sz="1150" dirty="0">
                <a:solidFill>
                  <a:srgbClr val="3A5060"/>
                </a:solidFill>
                <a:latin typeface="HUK Sans" pitchFamily="34" charset="0"/>
                <a:ea typeface="HUK Sans" pitchFamily="34" charset="-122"/>
                <a:cs typeface="HUK Sans" pitchFamily="34" charset="-120"/>
              </a:rPr>
              <a:t>Ein Vertrag verdient im zehnten Jahr deutlich mehr als im ersten. Nicht weil er besser geworden wäre, sondern weil der Beitrag den Kostenrückgang nur teilweise weitergibt.</a:t>
            </a:r>
            <a:endParaRPr lang="en-US" sz="1150" dirty="0"/>
          </a:p>
        </p:txBody>
      </p:sp>
      <p:sp>
        <p:nvSpPr>
          <p:cNvPr id="21" name="Shape 18"/>
          <p:cNvSpPr/>
          <p:nvPr/>
        </p:nvSpPr>
        <p:spPr>
          <a:xfrm>
            <a:off x="6720840" y="4700016"/>
            <a:ext cx="5166360" cy="1481328"/>
          </a:xfrm>
          <a:prstGeom prst="roundRect">
            <a:avLst>
              <a:gd name="adj" fmla="val 3704"/>
            </a:avLst>
          </a:prstGeom>
          <a:solidFill>
            <a:srgbClr val="001631"/>
          </a:solidFill>
          <a:ln w="12700">
            <a:solidFill>
              <a:srgbClr val="001631"/>
            </a:solidFill>
            <a:prstDash val="solid"/>
          </a:ln>
        </p:spPr>
      </p:sp>
      <p:sp>
        <p:nvSpPr>
          <p:cNvPr id="22" name="Shape 19"/>
          <p:cNvSpPr/>
          <p:nvPr/>
        </p:nvSpPr>
        <p:spPr>
          <a:xfrm>
            <a:off x="6949440" y="4956048"/>
            <a:ext cx="365760" cy="365760"/>
          </a:xfrm>
          <a:prstGeom prst="ellipse">
            <a:avLst/>
          </a:prstGeom>
          <a:solidFill>
            <a:srgbClr val="FFED00"/>
          </a:solidFill>
          <a:ln w="12700">
            <a:solidFill>
              <a:srgbClr val="FFED00"/>
            </a:solidFill>
            <a:prstDash val="solid"/>
          </a:ln>
        </p:spPr>
      </p:sp>
      <p:sp>
        <p:nvSpPr>
          <p:cNvPr id="23" name="Text 20"/>
          <p:cNvSpPr/>
          <p:nvPr/>
        </p:nvSpPr>
        <p:spPr>
          <a:xfrm>
            <a:off x="6949440" y="5010912"/>
            <a:ext cx="365760" cy="256032"/>
          </a:xfrm>
          <a:prstGeom prst="rect">
            <a:avLst/>
          </a:prstGeom>
          <a:noFill/>
          <a:ln/>
        </p:spPr>
        <p:txBody>
          <a:bodyPr wrap="square" lIns="0" tIns="0" rIns="0" bIns="0" rtlCol="0" anchor="ctr"/>
          <a:lstStyle/>
          <a:p>
            <a:pPr algn="ctr" indent="0" marL="0">
              <a:buNone/>
            </a:pPr>
            <a:r>
              <a:rPr lang="en-US" sz="1300" b="1" dirty="0">
                <a:solidFill>
                  <a:srgbClr val="001631"/>
                </a:solidFill>
                <a:latin typeface="HUK Sans" pitchFamily="34" charset="0"/>
                <a:ea typeface="HUK Sans" pitchFamily="34" charset="-122"/>
                <a:cs typeface="HUK Sans" pitchFamily="34" charset="-120"/>
              </a:rPr>
              <a:t>3</a:t>
            </a:r>
            <a:endParaRPr lang="en-US" sz="1300" dirty="0"/>
          </a:p>
        </p:txBody>
      </p:sp>
      <p:sp>
        <p:nvSpPr>
          <p:cNvPr id="24" name="Text 21"/>
          <p:cNvSpPr/>
          <p:nvPr/>
        </p:nvSpPr>
        <p:spPr>
          <a:xfrm>
            <a:off x="7470648" y="4882896"/>
            <a:ext cx="4206240" cy="274320"/>
          </a:xfrm>
          <a:prstGeom prst="rect">
            <a:avLst/>
          </a:prstGeom>
          <a:noFill/>
          <a:ln/>
        </p:spPr>
        <p:txBody>
          <a:bodyPr wrap="square" lIns="0" tIns="0" rIns="0" bIns="0" rtlCol="0" anchor="ctr"/>
          <a:lstStyle/>
          <a:p>
            <a:pPr indent="0" marL="0">
              <a:buNone/>
            </a:pPr>
            <a:r>
              <a:rPr lang="en-US" sz="1300" b="1" dirty="0">
                <a:solidFill>
                  <a:srgbClr val="FFED00"/>
                </a:solidFill>
                <a:latin typeface="HUK Sans Black" pitchFamily="34" charset="0"/>
                <a:ea typeface="HUK Sans Black" pitchFamily="34" charset="-122"/>
                <a:cs typeface="HUK Sans Black" pitchFamily="34" charset="-120"/>
              </a:rPr>
              <a:t>Ein einzelnes Jahr trifft das nicht</a:t>
            </a:r>
            <a:endParaRPr lang="en-US" sz="1300" dirty="0"/>
          </a:p>
        </p:txBody>
      </p:sp>
      <p:sp>
        <p:nvSpPr>
          <p:cNvPr id="25" name="Text 22"/>
          <p:cNvSpPr/>
          <p:nvPr/>
        </p:nvSpPr>
        <p:spPr>
          <a:xfrm>
            <a:off x="7470648" y="5230368"/>
            <a:ext cx="4206240" cy="841248"/>
          </a:xfrm>
          <a:prstGeom prst="rect">
            <a:avLst/>
          </a:prstGeom>
          <a:noFill/>
          <a:ln/>
        </p:spPr>
        <p:txBody>
          <a:bodyPr wrap="square" lIns="0" tIns="0" rIns="0" bIns="0" rtlCol="0" anchor="ctr"/>
          <a:lstStyle/>
          <a:p>
            <a:pPr indent="0" marL="0">
              <a:lnSpc>
                <a:spcPct val="110000"/>
              </a:lnSpc>
              <a:buNone/>
            </a:pPr>
            <a:r>
              <a:rPr lang="en-US" sz="1150" dirty="0">
                <a:solidFill>
                  <a:srgbClr val="D2E1E5"/>
                </a:solidFill>
                <a:latin typeface="HUK Sans" pitchFamily="34" charset="0"/>
                <a:ea typeface="HUK Sans" pitchFamily="34" charset="-122"/>
                <a:cs typeface="HUK Sans" pitchFamily="34" charset="-120"/>
              </a:rPr>
              <a:t>Der Kundenwert soll die gesamte Laufzeit abbilden, gerechnet wird er auf einem Jahr. Beim Neuvertrag ist das genau das Jahr mit der dünnsten Marge.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21770" y="287122"/>
            <a:ext cx="485546" cy="648310"/>
          </a:xfrm>
          <a:prstGeom prst="rect">
            <a:avLst/>
          </a:prstGeom>
          <a:solidFill>
            <a:srgbClr val="F4F7F8"/>
          </a:solidFill>
          <a:ln w="9525">
            <a:solidFill>
              <a:srgbClr val="D2E1E5"/>
            </a:solidFill>
            <a:prstDash val="solid"/>
          </a:ln>
        </p:spPr>
      </p:sp>
      <p:sp>
        <p:nvSpPr>
          <p:cNvPr id="3" name="Text 1"/>
          <p:cNvSpPr/>
          <p:nvPr/>
        </p:nvSpPr>
        <p:spPr>
          <a:xfrm>
            <a:off x="11421770" y="502920"/>
            <a:ext cx="485546" cy="228600"/>
          </a:xfrm>
          <a:prstGeom prst="rect">
            <a:avLst/>
          </a:prstGeom>
          <a:noFill/>
          <a:ln/>
        </p:spPr>
        <p:txBody>
          <a:bodyPr wrap="square" lIns="0" tIns="0" rIns="0" bIns="0" rtlCol="0" anchor="ctr"/>
          <a:lstStyle/>
          <a:p>
            <a:pPr algn="ctr" indent="0" marL="0">
              <a:buNone/>
            </a:pPr>
            <a:r>
              <a:rPr lang="en-US" sz="800" dirty="0">
                <a:solidFill>
                  <a:srgbClr val="6B8A9A"/>
                </a:solidFill>
                <a:latin typeface="HUK Sans" pitchFamily="34" charset="0"/>
                <a:ea typeface="HUK Sans" pitchFamily="34" charset="-122"/>
                <a:cs typeface="HUK Sans" pitchFamily="34" charset="-120"/>
              </a:rPr>
              <a:t>Logo</a:t>
            </a:r>
            <a:endParaRPr lang="en-US" sz="800" dirty="0"/>
          </a:p>
        </p:txBody>
      </p:sp>
      <p:sp>
        <p:nvSpPr>
          <p:cNvPr id="4" name="Text 2"/>
          <p:cNvSpPr/>
          <p:nvPr/>
        </p:nvSpPr>
        <p:spPr>
          <a:xfrm>
            <a:off x="273406" y="1005840"/>
            <a:ext cx="10223906" cy="274320"/>
          </a:xfrm>
          <a:prstGeom prst="rect">
            <a:avLst/>
          </a:prstGeom>
          <a:noFill/>
          <a:ln/>
        </p:spPr>
        <p:txBody>
          <a:bodyPr wrap="square" lIns="0" tIns="0" rIns="0" bIns="0" rtlCol="0" anchor="ctr"/>
          <a:lstStyle/>
          <a:p>
            <a:pPr indent="0" marL="0">
              <a:buNone/>
            </a:pPr>
            <a:r>
              <a:rPr lang="en-US" sz="1300" i="1" dirty="0">
                <a:solidFill>
                  <a:srgbClr val="2F6C7A"/>
                </a:solidFill>
                <a:latin typeface="HUK Sans" pitchFamily="34" charset="0"/>
                <a:ea typeface="HUK Sans" pitchFamily="34" charset="-122"/>
                <a:cs typeface="HUK Sans" pitchFamily="34" charset="-120"/>
              </a:rPr>
              <a:t>Statt der Kosten des ersten Jahres werden die im Tarif kalkulierten Kosten angesetzt</a:t>
            </a:r>
            <a:endParaRPr lang="en-US" sz="1300" dirty="0"/>
          </a:p>
        </p:txBody>
      </p:sp>
      <p:sp>
        <p:nvSpPr>
          <p:cNvPr id="5" name="Text 3"/>
          <p:cNvSpPr/>
          <p:nvPr/>
        </p:nvSpPr>
        <p:spPr>
          <a:xfrm>
            <a:off x="273406" y="6547104"/>
            <a:ext cx="7315200" cy="228600"/>
          </a:xfrm>
          <a:prstGeom prst="rect">
            <a:avLst/>
          </a:prstGeom>
          <a:noFill/>
          <a:ln/>
        </p:spPr>
        <p:txBody>
          <a:bodyPr wrap="square" lIns="0" tIns="0" rIns="0" bIns="0" rtlCol="0" anchor="ctr"/>
          <a:lstStyle/>
          <a:p>
            <a:pPr indent="0" marL="0">
              <a:buNone/>
            </a:pPr>
            <a:r>
              <a:rPr lang="en-US" sz="900" dirty="0">
                <a:solidFill>
                  <a:srgbClr val="6B8A9A"/>
                </a:solidFill>
                <a:latin typeface="HUK Sans" pitchFamily="34" charset="0"/>
                <a:ea typeface="HUK Sans" pitchFamily="34" charset="-122"/>
                <a:cs typeface="HUK Sans" pitchFamily="34" charset="-120"/>
              </a:rPr>
              <a:t>Kundenwert · Bewertung von Neuverträgen</a:t>
            </a:r>
            <a:endParaRPr lang="en-US" sz="900" dirty="0"/>
          </a:p>
        </p:txBody>
      </p:sp>
      <p:sp>
        <p:nvSpPr>
          <p:cNvPr id="6" name="Text 4"/>
          <p:cNvSpPr/>
          <p:nvPr/>
        </p:nvSpPr>
        <p:spPr>
          <a:xfrm>
            <a:off x="11338560" y="6547104"/>
            <a:ext cx="548640" cy="228600"/>
          </a:xfrm>
          <a:prstGeom prst="rect">
            <a:avLst/>
          </a:prstGeom>
          <a:noFill/>
          <a:ln/>
        </p:spPr>
        <p:txBody>
          <a:bodyPr wrap="square" lIns="0" tIns="0" rIns="0" bIns="0" rtlCol="0" anchor="ctr"/>
          <a:lstStyle/>
          <a:p>
            <a:pPr algn="r" indent="0" marL="0">
              <a:buNone/>
            </a:pPr>
            <a:r>
              <a:rPr lang="en-US" sz="900" dirty="0">
                <a:solidFill>
                  <a:srgbClr val="6B8A9A"/>
                </a:solidFill>
                <a:latin typeface="HUK Sans" pitchFamily="34" charset="0"/>
                <a:ea typeface="HUK Sans" pitchFamily="34" charset="-122"/>
                <a:cs typeface="HUK Sans" pitchFamily="34" charset="-120"/>
              </a:rPr>
              <a:t>2</a:t>
            </a:r>
            <a:endParaRPr lang="en-US" sz="900" dirty="0"/>
          </a:p>
        </p:txBody>
      </p:sp>
      <p:sp>
        <p:nvSpPr>
          <p:cNvPr id="7" name="Text 5"/>
          <p:cNvSpPr/>
          <p:nvPr/>
        </p:nvSpPr>
        <p:spPr>
          <a:xfrm>
            <a:off x="273406" y="384048"/>
            <a:ext cx="10223906" cy="658368"/>
          </a:xfrm>
          <a:prstGeom prst="rect">
            <a:avLst/>
          </a:prstGeom>
          <a:noFill/>
          <a:ln/>
        </p:spPr>
        <p:txBody>
          <a:bodyPr wrap="square" lIns="0" tIns="0" rIns="0" bIns="0" rtlCol="0" anchor="ctr"/>
          <a:lstStyle/>
          <a:p>
            <a:pPr indent="0" marL="0">
              <a:buNone/>
            </a:pPr>
            <a:r>
              <a:rPr lang="en-US" sz="3200" b="1" dirty="0">
                <a:solidFill>
                  <a:srgbClr val="001631"/>
                </a:solidFill>
                <a:latin typeface="HUK Sans Black" pitchFamily="34" charset="0"/>
                <a:ea typeface="HUK Sans Black" pitchFamily="34" charset="-122"/>
                <a:cs typeface="HUK Sans Black" pitchFamily="34" charset="-120"/>
              </a:rPr>
              <a:t>Wie das Verfahren gegensteuert</a:t>
            </a:r>
            <a:endParaRPr lang="en-US" sz="3200" dirty="0"/>
          </a:p>
        </p:txBody>
      </p:sp>
      <p:sp>
        <p:nvSpPr>
          <p:cNvPr id="8" name="Text 6"/>
          <p:cNvSpPr/>
          <p:nvPr/>
        </p:nvSpPr>
        <p:spPr>
          <a:xfrm>
            <a:off x="502920" y="1536192"/>
            <a:ext cx="5486400" cy="274320"/>
          </a:xfrm>
          <a:prstGeom prst="rect">
            <a:avLst/>
          </a:prstGeom>
          <a:noFill/>
          <a:ln/>
        </p:spPr>
        <p:txBody>
          <a:bodyPr wrap="square" lIns="0" tIns="0" rIns="0" bIns="0" rtlCol="0" anchor="ctr"/>
          <a:lstStyle/>
          <a:p>
            <a:pPr indent="0" marL="0">
              <a:buNone/>
            </a:pPr>
            <a:r>
              <a:rPr lang="en-US" sz="1500" b="1" dirty="0">
                <a:solidFill>
                  <a:srgbClr val="001631"/>
                </a:solidFill>
                <a:latin typeface="HUK Sans Black" pitchFamily="34" charset="0"/>
                <a:ea typeface="HUK Sans Black" pitchFamily="34" charset="-122"/>
                <a:cs typeface="HUK Sans Black" pitchFamily="34" charset="-120"/>
              </a:rPr>
              <a:t>Beispiel: Neuvertrag mit 1.000 € Beitrag</a:t>
            </a:r>
            <a:endParaRPr lang="en-US" sz="1500" dirty="0"/>
          </a:p>
        </p:txBody>
      </p:sp>
      <p:sp>
        <p:nvSpPr>
          <p:cNvPr id="9" name="Shape 7"/>
          <p:cNvSpPr/>
          <p:nvPr/>
        </p:nvSpPr>
        <p:spPr>
          <a:xfrm>
            <a:off x="868680" y="4206240"/>
            <a:ext cx="5120640" cy="0"/>
          </a:xfrm>
          <a:prstGeom prst="line">
            <a:avLst/>
          </a:prstGeom>
          <a:noFill/>
          <a:ln w="12700">
            <a:solidFill>
              <a:srgbClr val="7CA5AE"/>
            </a:solidFill>
            <a:prstDash val="solid"/>
          </a:ln>
        </p:spPr>
      </p:sp>
      <p:sp>
        <p:nvSpPr>
          <p:cNvPr id="10" name="Shape 8"/>
          <p:cNvSpPr/>
          <p:nvPr/>
        </p:nvSpPr>
        <p:spPr>
          <a:xfrm>
            <a:off x="1371600" y="2497684"/>
            <a:ext cx="1234440" cy="1708556"/>
          </a:xfrm>
          <a:prstGeom prst="rect">
            <a:avLst/>
          </a:prstGeom>
          <a:solidFill>
            <a:srgbClr val="BF0643"/>
          </a:solidFill>
          <a:ln w="12700">
            <a:solidFill>
              <a:srgbClr val="BF0643"/>
            </a:solidFill>
            <a:prstDash val="solid"/>
          </a:ln>
        </p:spPr>
      </p:sp>
      <p:sp>
        <p:nvSpPr>
          <p:cNvPr id="11" name="Text 9"/>
          <p:cNvSpPr/>
          <p:nvPr/>
        </p:nvSpPr>
        <p:spPr>
          <a:xfrm>
            <a:off x="1371600" y="3337560"/>
            <a:ext cx="123444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HUK Sans" pitchFamily="34" charset="0"/>
                <a:ea typeface="HUK Sans" pitchFamily="34" charset="-122"/>
                <a:cs typeface="HUK Sans" pitchFamily="34" charset="-120"/>
              </a:rPr>
              <a:t>1.010 €</a:t>
            </a:r>
            <a:endParaRPr lang="en-US" sz="1400" dirty="0"/>
          </a:p>
        </p:txBody>
      </p:sp>
      <p:sp>
        <p:nvSpPr>
          <p:cNvPr id="12" name="Shape 10"/>
          <p:cNvSpPr/>
          <p:nvPr/>
        </p:nvSpPr>
        <p:spPr>
          <a:xfrm>
            <a:off x="4160520" y="2633015"/>
            <a:ext cx="1234440" cy="1573225"/>
          </a:xfrm>
          <a:prstGeom prst="rect">
            <a:avLst/>
          </a:prstGeom>
          <a:solidFill>
            <a:srgbClr val="2F6C7A"/>
          </a:solidFill>
          <a:ln w="12700">
            <a:solidFill>
              <a:srgbClr val="2F6C7A"/>
            </a:solidFill>
            <a:prstDash val="solid"/>
          </a:ln>
        </p:spPr>
      </p:sp>
      <p:sp>
        <p:nvSpPr>
          <p:cNvPr id="13" name="Text 11"/>
          <p:cNvSpPr/>
          <p:nvPr/>
        </p:nvSpPr>
        <p:spPr>
          <a:xfrm>
            <a:off x="4160520" y="3337560"/>
            <a:ext cx="123444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HUK Sans" pitchFamily="34" charset="0"/>
                <a:ea typeface="HUK Sans" pitchFamily="34" charset="-122"/>
                <a:cs typeface="HUK Sans" pitchFamily="34" charset="-120"/>
              </a:rPr>
              <a:t>930 €</a:t>
            </a:r>
            <a:endParaRPr lang="en-US" sz="1400" dirty="0"/>
          </a:p>
        </p:txBody>
      </p:sp>
      <p:sp>
        <p:nvSpPr>
          <p:cNvPr id="14" name="Shape 12"/>
          <p:cNvSpPr/>
          <p:nvPr/>
        </p:nvSpPr>
        <p:spPr>
          <a:xfrm>
            <a:off x="1051560" y="2514600"/>
            <a:ext cx="4754880" cy="0"/>
          </a:xfrm>
          <a:prstGeom prst="line">
            <a:avLst/>
          </a:prstGeom>
          <a:noFill/>
          <a:ln w="15875">
            <a:solidFill>
              <a:srgbClr val="001631"/>
            </a:solidFill>
            <a:prstDash val="dash"/>
          </a:ln>
        </p:spPr>
      </p:sp>
      <p:sp>
        <p:nvSpPr>
          <p:cNvPr id="15" name="Text 13"/>
          <p:cNvSpPr/>
          <p:nvPr/>
        </p:nvSpPr>
        <p:spPr>
          <a:xfrm>
            <a:off x="2697480" y="2240280"/>
            <a:ext cx="1371600" cy="237744"/>
          </a:xfrm>
          <a:prstGeom prst="rect">
            <a:avLst/>
          </a:prstGeom>
          <a:noFill/>
          <a:ln/>
        </p:spPr>
        <p:txBody>
          <a:bodyPr wrap="square" lIns="0" tIns="0" rIns="0" bIns="0" rtlCol="0" anchor="ctr"/>
          <a:lstStyle/>
          <a:p>
            <a:pPr algn="ctr" indent="0" marL="0">
              <a:buNone/>
            </a:pPr>
            <a:r>
              <a:rPr lang="en-US" sz="1150" dirty="0">
                <a:solidFill>
                  <a:srgbClr val="001631"/>
                </a:solidFill>
                <a:latin typeface="HUK Sans" pitchFamily="34" charset="0"/>
                <a:ea typeface="HUK Sans" pitchFamily="34" charset="-122"/>
                <a:cs typeface="HUK Sans" pitchFamily="34" charset="-120"/>
              </a:rPr>
              <a:t>Beitrag 1.000 €</a:t>
            </a:r>
            <a:endParaRPr lang="en-US" sz="1150" dirty="0"/>
          </a:p>
        </p:txBody>
      </p:sp>
      <p:sp>
        <p:nvSpPr>
          <p:cNvPr id="16" name="Text 14"/>
          <p:cNvSpPr/>
          <p:nvPr/>
        </p:nvSpPr>
        <p:spPr>
          <a:xfrm>
            <a:off x="960120" y="4297680"/>
            <a:ext cx="2057400" cy="256032"/>
          </a:xfrm>
          <a:prstGeom prst="rect">
            <a:avLst/>
          </a:prstGeom>
          <a:noFill/>
          <a:ln/>
        </p:spPr>
        <p:txBody>
          <a:bodyPr wrap="square" lIns="0" tIns="0" rIns="0" bIns="0" rtlCol="0" anchor="ctr"/>
          <a:lstStyle/>
          <a:p>
            <a:pPr algn="ctr" indent="0" marL="0">
              <a:buNone/>
            </a:pPr>
            <a:r>
              <a:rPr lang="en-US" sz="1250" b="1" dirty="0">
                <a:solidFill>
                  <a:srgbClr val="001631"/>
                </a:solidFill>
                <a:latin typeface="HUK Sans" pitchFamily="34" charset="0"/>
                <a:ea typeface="HUK Sans" pitchFamily="34" charset="-122"/>
                <a:cs typeface="HUK Sans" pitchFamily="34" charset="-120"/>
              </a:rPr>
              <a:t>Best-Estimate-Kosten</a:t>
            </a:r>
            <a:endParaRPr lang="en-US" sz="1250" dirty="0"/>
          </a:p>
        </p:txBody>
      </p:sp>
      <p:sp>
        <p:nvSpPr>
          <p:cNvPr id="17" name="Text 15"/>
          <p:cNvSpPr/>
          <p:nvPr/>
        </p:nvSpPr>
        <p:spPr>
          <a:xfrm>
            <a:off x="960120" y="4572000"/>
            <a:ext cx="2057400" cy="237744"/>
          </a:xfrm>
          <a:prstGeom prst="rect">
            <a:avLst/>
          </a:prstGeom>
          <a:noFill/>
          <a:ln/>
        </p:spPr>
        <p:txBody>
          <a:bodyPr wrap="square" lIns="0" tIns="0" rIns="0" bIns="0" rtlCol="0" anchor="ctr"/>
          <a:lstStyle/>
          <a:p>
            <a:pPr algn="ctr" indent="0" marL="0">
              <a:buNone/>
            </a:pPr>
            <a:r>
              <a:rPr lang="en-US" sz="1200" dirty="0">
                <a:solidFill>
                  <a:srgbClr val="BF0643"/>
                </a:solidFill>
                <a:latin typeface="HUK Sans" pitchFamily="34" charset="0"/>
                <a:ea typeface="HUK Sans" pitchFamily="34" charset="-122"/>
                <a:cs typeface="HUK Sans" pitchFamily="34" charset="-120"/>
              </a:rPr>
              <a:t>Ergebnis −10 €</a:t>
            </a:r>
            <a:endParaRPr lang="en-US" sz="1200" dirty="0"/>
          </a:p>
        </p:txBody>
      </p:sp>
      <p:sp>
        <p:nvSpPr>
          <p:cNvPr id="18" name="Text 16"/>
          <p:cNvSpPr/>
          <p:nvPr/>
        </p:nvSpPr>
        <p:spPr>
          <a:xfrm>
            <a:off x="3749040" y="4297680"/>
            <a:ext cx="2057400" cy="256032"/>
          </a:xfrm>
          <a:prstGeom prst="rect">
            <a:avLst/>
          </a:prstGeom>
          <a:noFill/>
          <a:ln/>
        </p:spPr>
        <p:txBody>
          <a:bodyPr wrap="square" lIns="0" tIns="0" rIns="0" bIns="0" rtlCol="0" anchor="ctr"/>
          <a:lstStyle/>
          <a:p>
            <a:pPr algn="ctr" indent="0" marL="0">
              <a:buNone/>
            </a:pPr>
            <a:r>
              <a:rPr lang="en-US" sz="1250" b="1" dirty="0">
                <a:solidFill>
                  <a:srgbClr val="001631"/>
                </a:solidFill>
                <a:latin typeface="HUK Sans" pitchFamily="34" charset="0"/>
                <a:ea typeface="HUK Sans" pitchFamily="34" charset="-122"/>
                <a:cs typeface="HUK Sans" pitchFamily="34" charset="-120"/>
              </a:rPr>
              <a:t>93 % von B_NT</a:t>
            </a:r>
            <a:endParaRPr lang="en-US" sz="1250" dirty="0"/>
          </a:p>
        </p:txBody>
      </p:sp>
      <p:sp>
        <p:nvSpPr>
          <p:cNvPr id="19" name="Text 17"/>
          <p:cNvSpPr/>
          <p:nvPr/>
        </p:nvSpPr>
        <p:spPr>
          <a:xfrm>
            <a:off x="3749040" y="4572000"/>
            <a:ext cx="2057400" cy="237744"/>
          </a:xfrm>
          <a:prstGeom prst="rect">
            <a:avLst/>
          </a:prstGeom>
          <a:noFill/>
          <a:ln/>
        </p:spPr>
        <p:txBody>
          <a:bodyPr wrap="square" lIns="0" tIns="0" rIns="0" bIns="0" rtlCol="0" anchor="ctr"/>
          <a:lstStyle/>
          <a:p>
            <a:pPr algn="ctr" indent="0" marL="0">
              <a:buNone/>
            </a:pPr>
            <a:r>
              <a:rPr lang="en-US" sz="1200" dirty="0">
                <a:solidFill>
                  <a:srgbClr val="2F6C7A"/>
                </a:solidFill>
                <a:latin typeface="HUK Sans" pitchFamily="34" charset="0"/>
                <a:ea typeface="HUK Sans" pitchFamily="34" charset="-122"/>
                <a:cs typeface="HUK Sans" pitchFamily="34" charset="-120"/>
              </a:rPr>
              <a:t>Ergebnis +70 €</a:t>
            </a:r>
            <a:endParaRPr lang="en-US" sz="1200" dirty="0"/>
          </a:p>
        </p:txBody>
      </p:sp>
      <p:sp>
        <p:nvSpPr>
          <p:cNvPr id="20" name="Shape 18"/>
          <p:cNvSpPr/>
          <p:nvPr/>
        </p:nvSpPr>
        <p:spPr>
          <a:xfrm>
            <a:off x="273406" y="5029200"/>
            <a:ext cx="6172200" cy="1033272"/>
          </a:xfrm>
          <a:prstGeom prst="roundRect">
            <a:avLst>
              <a:gd name="adj" fmla="val 5310"/>
            </a:avLst>
          </a:prstGeom>
          <a:solidFill>
            <a:srgbClr val="F4F7F8"/>
          </a:solidFill>
          <a:ln w="12700">
            <a:solidFill>
              <a:srgbClr val="D2E1E5"/>
            </a:solidFill>
            <a:prstDash val="solid"/>
          </a:ln>
        </p:spPr>
      </p:sp>
      <p:sp>
        <p:nvSpPr>
          <p:cNvPr id="21" name="Text 19"/>
          <p:cNvSpPr/>
          <p:nvPr/>
        </p:nvSpPr>
        <p:spPr>
          <a:xfrm>
            <a:off x="502920" y="5157216"/>
            <a:ext cx="5715000" cy="777240"/>
          </a:xfrm>
          <a:prstGeom prst="rect">
            <a:avLst/>
          </a:prstGeom>
          <a:noFill/>
          <a:ln/>
        </p:spPr>
        <p:txBody>
          <a:bodyPr wrap="square" lIns="0" tIns="0" rIns="0" bIns="0" rtlCol="0" anchor="ctr"/>
          <a:lstStyle/>
          <a:p>
            <a:pPr indent="0" marL="0">
              <a:lnSpc>
                <a:spcPct val="110000"/>
              </a:lnSpc>
              <a:buNone/>
            </a:pPr>
            <a:r>
              <a:rPr lang="en-US" sz="1150" dirty="0">
                <a:solidFill>
                  <a:srgbClr val="3A5060"/>
                </a:solidFill>
                <a:latin typeface="HUK Sans" pitchFamily="34" charset="0"/>
                <a:ea typeface="HUK Sans" pitchFamily="34" charset="-122"/>
                <a:cs typeface="HUK Sans" pitchFamily="34" charset="-120"/>
              </a:rPr>
              <a:t>0,93 ist der kalkulatorische Combined Ratio des Neutarifs. B_NT × 0,93 ergibt damit genau das, was der Tarif für diesen Vertrag an Schaden und Kosten einkalkuliert — über die Laufzeit gerechnet, nicht für das erste Jahr.</a:t>
            </a:r>
            <a:endParaRPr lang="en-US" sz="1150" dirty="0"/>
          </a:p>
        </p:txBody>
      </p:sp>
      <p:sp>
        <p:nvSpPr>
          <p:cNvPr id="22" name="Shape 20"/>
          <p:cNvSpPr/>
          <p:nvPr/>
        </p:nvSpPr>
        <p:spPr>
          <a:xfrm>
            <a:off x="6720840" y="1481328"/>
            <a:ext cx="5166360" cy="1371600"/>
          </a:xfrm>
          <a:prstGeom prst="roundRect">
            <a:avLst>
              <a:gd name="adj" fmla="val 4000"/>
            </a:avLst>
          </a:prstGeom>
          <a:solidFill>
            <a:srgbClr val="F4F7F8"/>
          </a:solidFill>
          <a:ln w="12700">
            <a:solidFill>
              <a:srgbClr val="D2E1E5"/>
            </a:solidFill>
            <a:prstDash val="solid"/>
          </a:ln>
        </p:spPr>
      </p:sp>
      <p:sp>
        <p:nvSpPr>
          <p:cNvPr id="23" name="Text 21"/>
          <p:cNvSpPr/>
          <p:nvPr/>
        </p:nvSpPr>
        <p:spPr>
          <a:xfrm>
            <a:off x="6949440" y="1627632"/>
            <a:ext cx="4709160" cy="274320"/>
          </a:xfrm>
          <a:prstGeom prst="rect">
            <a:avLst/>
          </a:prstGeom>
          <a:noFill/>
          <a:ln/>
        </p:spPr>
        <p:txBody>
          <a:bodyPr wrap="square" lIns="0" tIns="0" rIns="0" bIns="0" rtlCol="0" anchor="ctr"/>
          <a:lstStyle/>
          <a:p>
            <a:pPr indent="0" marL="0">
              <a:buNone/>
            </a:pPr>
            <a:r>
              <a:rPr lang="en-US" sz="1300" b="1" dirty="0">
                <a:solidFill>
                  <a:srgbClr val="001631"/>
                </a:solidFill>
                <a:latin typeface="HUK Sans Black" pitchFamily="34" charset="0"/>
                <a:ea typeface="HUK Sans Black" pitchFamily="34" charset="-122"/>
                <a:cs typeface="HUK Sans Black" pitchFamily="34" charset="-120"/>
              </a:rPr>
              <a:t>Beide Werte werden berechnet</a:t>
            </a:r>
            <a:endParaRPr lang="en-US" sz="1300" dirty="0"/>
          </a:p>
        </p:txBody>
      </p:sp>
      <p:sp>
        <p:nvSpPr>
          <p:cNvPr id="24" name="Text 22"/>
          <p:cNvSpPr/>
          <p:nvPr/>
        </p:nvSpPr>
        <p:spPr>
          <a:xfrm>
            <a:off x="6949440" y="1956816"/>
            <a:ext cx="4709160" cy="777240"/>
          </a:xfrm>
          <a:prstGeom prst="rect">
            <a:avLst/>
          </a:prstGeom>
          <a:noFill/>
          <a:ln/>
        </p:spPr>
        <p:txBody>
          <a:bodyPr wrap="square" lIns="0" tIns="0" rIns="0" bIns="0" rtlCol="0" anchor="ctr"/>
          <a:lstStyle/>
          <a:p>
            <a:pPr indent="0" marL="0">
              <a:lnSpc>
                <a:spcPct val="110000"/>
              </a:lnSpc>
              <a:buNone/>
            </a:pPr>
            <a:r>
              <a:rPr lang="en-US" sz="1150" dirty="0">
                <a:solidFill>
                  <a:srgbClr val="3A5060"/>
                </a:solidFill>
                <a:latin typeface="HUK Sans" pitchFamily="34" charset="0"/>
                <a:ea typeface="HUK Sans" pitchFamily="34" charset="-122"/>
                <a:cs typeface="HUK Sans" pitchFamily="34" charset="-120"/>
              </a:rPr>
              <a:t>Für jeden Vertrag wird sowohl das tatsächliche Jahresergebnis als auch das Ergebnis nach Tarifkalkulation ermittelt. Einnahmeseite ist in beiden Fällen der tatsächliche Beitrag.</a:t>
            </a:r>
            <a:endParaRPr lang="en-US" sz="1150" dirty="0"/>
          </a:p>
        </p:txBody>
      </p:sp>
      <p:sp>
        <p:nvSpPr>
          <p:cNvPr id="25" name="Shape 23"/>
          <p:cNvSpPr/>
          <p:nvPr/>
        </p:nvSpPr>
        <p:spPr>
          <a:xfrm>
            <a:off x="6720840" y="2962656"/>
            <a:ext cx="5166360" cy="1371600"/>
          </a:xfrm>
          <a:prstGeom prst="roundRect">
            <a:avLst>
              <a:gd name="adj" fmla="val 4000"/>
            </a:avLst>
          </a:prstGeom>
          <a:solidFill>
            <a:srgbClr val="001631"/>
          </a:solidFill>
          <a:ln w="12700">
            <a:solidFill>
              <a:srgbClr val="001631"/>
            </a:solidFill>
            <a:prstDash val="solid"/>
          </a:ln>
        </p:spPr>
      </p:sp>
      <p:sp>
        <p:nvSpPr>
          <p:cNvPr id="26" name="Text 24"/>
          <p:cNvSpPr/>
          <p:nvPr/>
        </p:nvSpPr>
        <p:spPr>
          <a:xfrm>
            <a:off x="6949440" y="3108960"/>
            <a:ext cx="4709160" cy="274320"/>
          </a:xfrm>
          <a:prstGeom prst="rect">
            <a:avLst/>
          </a:prstGeom>
          <a:noFill/>
          <a:ln/>
        </p:spPr>
        <p:txBody>
          <a:bodyPr wrap="square" lIns="0" tIns="0" rIns="0" bIns="0" rtlCol="0" anchor="ctr"/>
          <a:lstStyle/>
          <a:p>
            <a:pPr indent="0" marL="0">
              <a:buNone/>
            </a:pPr>
            <a:r>
              <a:rPr lang="en-US" sz="1300" b="1" dirty="0">
                <a:solidFill>
                  <a:srgbClr val="FFED00"/>
                </a:solidFill>
                <a:latin typeface="HUK Sans Black" pitchFamily="34" charset="0"/>
                <a:ea typeface="HUK Sans Black" pitchFamily="34" charset="-122"/>
                <a:cs typeface="HUK Sans Black" pitchFamily="34" charset="-120"/>
              </a:rPr>
              <a:t>Der höhere Wert zählt</a:t>
            </a:r>
            <a:endParaRPr lang="en-US" sz="1300" dirty="0"/>
          </a:p>
        </p:txBody>
      </p:sp>
      <p:sp>
        <p:nvSpPr>
          <p:cNvPr id="27" name="Text 25"/>
          <p:cNvSpPr/>
          <p:nvPr/>
        </p:nvSpPr>
        <p:spPr>
          <a:xfrm>
            <a:off x="6949440" y="3438144"/>
            <a:ext cx="4709160" cy="777240"/>
          </a:xfrm>
          <a:prstGeom prst="rect">
            <a:avLst/>
          </a:prstGeom>
          <a:noFill/>
          <a:ln/>
        </p:spPr>
        <p:txBody>
          <a:bodyPr wrap="square" lIns="0" tIns="0" rIns="0" bIns="0" rtlCol="0" anchor="ctr"/>
          <a:lstStyle/>
          <a:p>
            <a:pPr indent="0" marL="0">
              <a:lnSpc>
                <a:spcPct val="110000"/>
              </a:lnSpc>
              <a:buNone/>
            </a:pPr>
            <a:r>
              <a:rPr lang="en-US" sz="1150" dirty="0">
                <a:solidFill>
                  <a:srgbClr val="D2E1E5"/>
                </a:solidFill>
                <a:latin typeface="HUK Sans" pitchFamily="34" charset="0"/>
                <a:ea typeface="HUK Sans" pitchFamily="34" charset="-122"/>
                <a:cs typeface="HUK Sans" pitchFamily="34" charset="-120"/>
              </a:rPr>
              <a:t>Das tatsächliche Ergebnis gilt, außer es liegt darunter. Dann greift die Tarifkalkulation als Untergrenze. Neuverträge werden so nicht mehr als Verlustbringer geführt.</a:t>
            </a:r>
            <a:endParaRPr lang="en-US" sz="1150" dirty="0"/>
          </a:p>
        </p:txBody>
      </p:sp>
      <p:sp>
        <p:nvSpPr>
          <p:cNvPr id="28" name="Shape 26"/>
          <p:cNvSpPr/>
          <p:nvPr/>
        </p:nvSpPr>
        <p:spPr>
          <a:xfrm>
            <a:off x="6720840" y="4443984"/>
            <a:ext cx="5166360" cy="1618488"/>
          </a:xfrm>
          <a:prstGeom prst="roundRect">
            <a:avLst>
              <a:gd name="adj" fmla="val 3390"/>
            </a:avLst>
          </a:prstGeom>
          <a:solidFill>
            <a:srgbClr val="FFFFFF"/>
          </a:solidFill>
          <a:ln w="12700">
            <a:solidFill>
              <a:srgbClr val="D2E1E5"/>
            </a:solidFill>
            <a:prstDash val="solid"/>
          </a:ln>
        </p:spPr>
      </p:sp>
      <p:sp>
        <p:nvSpPr>
          <p:cNvPr id="29" name="Text 27"/>
          <p:cNvSpPr/>
          <p:nvPr/>
        </p:nvSpPr>
        <p:spPr>
          <a:xfrm>
            <a:off x="6949440" y="4572000"/>
            <a:ext cx="4709160" cy="237744"/>
          </a:xfrm>
          <a:prstGeom prst="rect">
            <a:avLst/>
          </a:prstGeom>
          <a:noFill/>
          <a:ln/>
        </p:spPr>
        <p:txBody>
          <a:bodyPr wrap="square" lIns="0" tIns="0" rIns="0" bIns="0" rtlCol="0" anchor="ctr"/>
          <a:lstStyle/>
          <a:p>
            <a:pPr indent="0" marL="0">
              <a:buNone/>
            </a:pPr>
            <a:r>
              <a:rPr lang="en-US" sz="1150" b="1" dirty="0">
                <a:solidFill>
                  <a:srgbClr val="6B8A9A"/>
                </a:solidFill>
                <a:latin typeface="HUK Sans" pitchFamily="34" charset="0"/>
                <a:ea typeface="HUK Sans" pitchFamily="34" charset="-122"/>
                <a:cs typeface="HUK Sans" pitchFamily="34" charset="-120"/>
              </a:rPr>
              <a:t>Noch nicht optimal gelöst</a:t>
            </a:r>
            <a:endParaRPr lang="en-US" sz="1150" dirty="0"/>
          </a:p>
        </p:txBody>
      </p:sp>
      <p:sp>
        <p:nvSpPr>
          <p:cNvPr id="30" name="Text 28"/>
          <p:cNvSpPr/>
          <p:nvPr/>
        </p:nvSpPr>
        <p:spPr>
          <a:xfrm>
            <a:off x="6949440" y="4846320"/>
            <a:ext cx="4709160" cy="1143000"/>
          </a:xfrm>
          <a:prstGeom prst="rect">
            <a:avLst/>
          </a:prstGeom>
          <a:noFill/>
          <a:ln/>
        </p:spPr>
        <p:txBody>
          <a:bodyPr wrap="square" lIns="0" tIns="0" rIns="0" bIns="0" rtlCol="0" anchor="ctr"/>
          <a:lstStyle/>
          <a:p>
            <a:pPr marL="342900" indent="-342900">
              <a:lnSpc>
                <a:spcPct val="106000"/>
              </a:lnSpc>
              <a:spcAft>
                <a:spcPts val="500"/>
              </a:spcAft>
              <a:buSzPct val="100000"/>
              <a:buChar char="•"/>
            </a:pPr>
            <a:r>
              <a:rPr lang="en-US" sz="1000" dirty="0">
                <a:solidFill>
                  <a:srgbClr val="6B8A9A"/>
                </a:solidFill>
                <a:latin typeface="HUK Sans" pitchFamily="34" charset="0"/>
                <a:ea typeface="HUK Sans" pitchFamily="34" charset="-122"/>
                <a:cs typeface="HUK Sans" pitchFamily="34" charset="-120"/>
              </a:rPr>
              <a:t>Sie greift überall dort, wo die Best-Estimate-Kosten über B_NT × 0,93 liegen — das Vertragsalter geht nicht ein.</a:t>
            </a:r>
            <a:endParaRPr lang="en-US" sz="1000" dirty="0"/>
          </a:p>
          <a:p>
            <a:pPr marL="342900" indent="-342900">
              <a:lnSpc>
                <a:spcPct val="106000"/>
              </a:lnSpc>
              <a:spcAft>
                <a:spcPts val="500"/>
              </a:spcAft>
              <a:buSzPct val="100000"/>
              <a:buChar char="•"/>
            </a:pPr>
            <a:r>
              <a:rPr lang="en-US" sz="1000" dirty="0">
                <a:solidFill>
                  <a:srgbClr val="6B8A9A"/>
                </a:solidFill>
                <a:latin typeface="HUK Sans" pitchFamily="34" charset="0"/>
                <a:ea typeface="HUK Sans" pitchFamily="34" charset="-122"/>
                <a:cs typeface="HUK Sans" pitchFamily="34" charset="-120"/>
              </a:rPr>
              <a:t>Im aktuellen Tarif ergibt sie stets 7 % des Beitrags; Risikounterschiede zwischen Neuverträgen verschwinden dort.</a:t>
            </a:r>
            <a:endParaRPr lang="en-US" sz="1000" dirty="0"/>
          </a:p>
          <a:p>
            <a:pPr marL="342900" indent="-342900">
              <a:lnSpc>
                <a:spcPct val="106000"/>
              </a:lnSpc>
              <a:buSzPct val="100000"/>
              <a:buChar char="•"/>
            </a:pPr>
            <a:r>
              <a:rPr lang="en-US" sz="1000" dirty="0">
                <a:solidFill>
                  <a:srgbClr val="6B8A9A"/>
                </a:solidFill>
                <a:latin typeface="HUK Sans" pitchFamily="34" charset="0"/>
                <a:ea typeface="HUK Sans" pitchFamily="34" charset="-122"/>
                <a:cs typeface="HUK Sans" pitchFamily="34" charset="-120"/>
              </a:rPr>
              <a:t>Gilt nur für Pkw; Verträge mit Mahnverfahren oder LEVR sind ausgenommen und erhalten 50 € Abzug.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21770" y="287122"/>
            <a:ext cx="485546" cy="648310"/>
          </a:xfrm>
          <a:prstGeom prst="rect">
            <a:avLst/>
          </a:prstGeom>
          <a:solidFill>
            <a:srgbClr val="F4F7F8"/>
          </a:solidFill>
          <a:ln w="9525">
            <a:solidFill>
              <a:srgbClr val="D2E1E5"/>
            </a:solidFill>
            <a:prstDash val="solid"/>
          </a:ln>
        </p:spPr>
      </p:sp>
      <p:sp>
        <p:nvSpPr>
          <p:cNvPr id="3" name="Text 1"/>
          <p:cNvSpPr/>
          <p:nvPr/>
        </p:nvSpPr>
        <p:spPr>
          <a:xfrm>
            <a:off x="11421770" y="502920"/>
            <a:ext cx="485546" cy="228600"/>
          </a:xfrm>
          <a:prstGeom prst="rect">
            <a:avLst/>
          </a:prstGeom>
          <a:noFill/>
          <a:ln/>
        </p:spPr>
        <p:txBody>
          <a:bodyPr wrap="square" lIns="0" tIns="0" rIns="0" bIns="0" rtlCol="0" anchor="ctr"/>
          <a:lstStyle/>
          <a:p>
            <a:pPr algn="ctr" indent="0" marL="0">
              <a:buNone/>
            </a:pPr>
            <a:r>
              <a:rPr lang="en-US" sz="800" dirty="0">
                <a:solidFill>
                  <a:srgbClr val="6B8A9A"/>
                </a:solidFill>
                <a:latin typeface="HUK Sans" pitchFamily="34" charset="0"/>
                <a:ea typeface="HUK Sans" pitchFamily="34" charset="-122"/>
                <a:cs typeface="HUK Sans" pitchFamily="34" charset="-120"/>
              </a:rPr>
              <a:t>Logo</a:t>
            </a:r>
            <a:endParaRPr lang="en-US" sz="800" dirty="0"/>
          </a:p>
        </p:txBody>
      </p:sp>
      <p:sp>
        <p:nvSpPr>
          <p:cNvPr id="4" name="Text 2"/>
          <p:cNvSpPr/>
          <p:nvPr/>
        </p:nvSpPr>
        <p:spPr>
          <a:xfrm>
            <a:off x="273406" y="1005840"/>
            <a:ext cx="10223906" cy="274320"/>
          </a:xfrm>
          <a:prstGeom prst="rect">
            <a:avLst/>
          </a:prstGeom>
          <a:noFill/>
          <a:ln/>
        </p:spPr>
        <p:txBody>
          <a:bodyPr wrap="square" lIns="0" tIns="0" rIns="0" bIns="0" rtlCol="0" anchor="ctr"/>
          <a:lstStyle/>
          <a:p>
            <a:pPr indent="0" marL="0">
              <a:buNone/>
            </a:pPr>
            <a:r>
              <a:rPr lang="en-US" sz="1300" i="1" dirty="0">
                <a:solidFill>
                  <a:srgbClr val="2F6C7A"/>
                </a:solidFill>
                <a:latin typeface="HUK Sans" pitchFamily="34" charset="0"/>
                <a:ea typeface="HUK Sans" pitchFamily="34" charset="-122"/>
                <a:cs typeface="HUK Sans" pitchFamily="34" charset="-120"/>
              </a:rPr>
              <a:t>Vier Verträge durchgerechnet — der Beitrag kürzt sich beim Vergleich heraus</a:t>
            </a:r>
            <a:endParaRPr lang="en-US" sz="1300" dirty="0"/>
          </a:p>
        </p:txBody>
      </p:sp>
      <p:sp>
        <p:nvSpPr>
          <p:cNvPr id="5" name="Text 3"/>
          <p:cNvSpPr/>
          <p:nvPr/>
        </p:nvSpPr>
        <p:spPr>
          <a:xfrm>
            <a:off x="273406" y="6547104"/>
            <a:ext cx="7315200" cy="228600"/>
          </a:xfrm>
          <a:prstGeom prst="rect">
            <a:avLst/>
          </a:prstGeom>
          <a:noFill/>
          <a:ln/>
        </p:spPr>
        <p:txBody>
          <a:bodyPr wrap="square" lIns="0" tIns="0" rIns="0" bIns="0" rtlCol="0" anchor="ctr"/>
          <a:lstStyle/>
          <a:p>
            <a:pPr indent="0" marL="0">
              <a:buNone/>
            </a:pPr>
            <a:r>
              <a:rPr lang="en-US" sz="900" dirty="0">
                <a:solidFill>
                  <a:srgbClr val="6B8A9A"/>
                </a:solidFill>
                <a:latin typeface="HUK Sans" pitchFamily="34" charset="0"/>
                <a:ea typeface="HUK Sans" pitchFamily="34" charset="-122"/>
                <a:cs typeface="HUK Sans" pitchFamily="34" charset="-120"/>
              </a:rPr>
              <a:t>Kundenwert · Bewertung von Neuverträgen</a:t>
            </a:r>
            <a:endParaRPr lang="en-US" sz="900" dirty="0"/>
          </a:p>
        </p:txBody>
      </p:sp>
      <p:sp>
        <p:nvSpPr>
          <p:cNvPr id="6" name="Text 4"/>
          <p:cNvSpPr/>
          <p:nvPr/>
        </p:nvSpPr>
        <p:spPr>
          <a:xfrm>
            <a:off x="11338560" y="6547104"/>
            <a:ext cx="548640" cy="228600"/>
          </a:xfrm>
          <a:prstGeom prst="rect">
            <a:avLst/>
          </a:prstGeom>
          <a:noFill/>
          <a:ln/>
        </p:spPr>
        <p:txBody>
          <a:bodyPr wrap="square" lIns="0" tIns="0" rIns="0" bIns="0" rtlCol="0" anchor="ctr"/>
          <a:lstStyle/>
          <a:p>
            <a:pPr algn="r" indent="0" marL="0">
              <a:buNone/>
            </a:pPr>
            <a:r>
              <a:rPr lang="en-US" sz="900" dirty="0">
                <a:solidFill>
                  <a:srgbClr val="6B8A9A"/>
                </a:solidFill>
                <a:latin typeface="HUK Sans" pitchFamily="34" charset="0"/>
                <a:ea typeface="HUK Sans" pitchFamily="34" charset="-122"/>
                <a:cs typeface="HUK Sans" pitchFamily="34" charset="-120"/>
              </a:rPr>
              <a:t>3</a:t>
            </a:r>
            <a:endParaRPr lang="en-US" sz="900" dirty="0"/>
          </a:p>
        </p:txBody>
      </p:sp>
      <p:sp>
        <p:nvSpPr>
          <p:cNvPr id="7" name="Text 5"/>
          <p:cNvSpPr/>
          <p:nvPr/>
        </p:nvSpPr>
        <p:spPr>
          <a:xfrm>
            <a:off x="273406" y="384048"/>
            <a:ext cx="10223906" cy="658368"/>
          </a:xfrm>
          <a:prstGeom prst="rect">
            <a:avLst/>
          </a:prstGeom>
          <a:noFill/>
          <a:ln/>
        </p:spPr>
        <p:txBody>
          <a:bodyPr wrap="square" lIns="0" tIns="0" rIns="0" bIns="0" rtlCol="0" anchor="ctr"/>
          <a:lstStyle/>
          <a:p>
            <a:pPr indent="0" marL="0">
              <a:buNone/>
            </a:pPr>
            <a:r>
              <a:rPr lang="en-US" sz="3200" b="1" dirty="0">
                <a:solidFill>
                  <a:srgbClr val="001631"/>
                </a:solidFill>
                <a:latin typeface="HUK Sans Black" pitchFamily="34" charset="0"/>
                <a:ea typeface="HUK Sans Black" pitchFamily="34" charset="-122"/>
                <a:cs typeface="HUK Sans Black" pitchFamily="34" charset="-120"/>
              </a:rPr>
              <a:t>Was in den einzelnen Fällen passiert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3406" y="1481328"/>
          <a:ext cx="11612880" cy="914400"/>
        </p:xfrm>
        <a:graphic>
          <a:graphicData uri="http://schemas.openxmlformats.org/drawingml/2006/table">
            <a:tbl>
              <a:tblPr/>
              <a:tblGrid>
                <a:gridCol w="2880360"/>
                <a:gridCol w="1005840"/>
                <a:gridCol w="914400"/>
                <a:gridCol w="1234440"/>
                <a:gridCol w="1371600"/>
                <a:gridCol w="1463040"/>
                <a:gridCol w="1188720"/>
                <a:gridCol w="1554480"/>
              </a:tblGrid>
              <a:tr h="566928">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Vertragstyp</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Beitrag</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B_NT</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Best-</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Estimate-</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Kosten</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Ergebnis</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tatsächlich</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Ergebnis</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Tarif-</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kalkulation</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Kunden-</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wert</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Was greift</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r>
              <a:tr h="402336">
                <a:tc>
                  <a:txBody>
                    <a:bodyPr/>
                    <a:lstStyle/>
                    <a:p>
                      <a:pPr algn="l" indent="0" marL="0">
                        <a:buNone/>
                      </a:pPr>
                      <a:r>
                        <a:rPr lang="en-US" sz="1200" b="1" dirty="0">
                          <a:solidFill>
                            <a:srgbClr val="001631"/>
                          </a:solidFill>
                          <a:latin typeface="HUK Sans" pitchFamily="34" charset="0"/>
                          <a:ea typeface="HUK Sans" pitchFamily="34" charset="-122"/>
                          <a:cs typeface="HUK Sans" pitchFamily="34" charset="-120"/>
                        </a:rPr>
                        <a:t>Neuvertrag, aktueller Tarif</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1.000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1.000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1.010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−10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+70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b="1" dirty="0">
                          <a:solidFill>
                            <a:srgbClr val="001631"/>
                          </a:solidFill>
                          <a:latin typeface="HUK Sans" pitchFamily="34" charset="0"/>
                          <a:ea typeface="HUK Sans" pitchFamily="34" charset="-122"/>
                          <a:cs typeface="HUK Sans" pitchFamily="34" charset="-120"/>
                        </a:rPr>
                        <a:t>+70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Untergrenze</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r>
              <a:tr h="365760">
                <a:tc>
                  <a:txBody>
                    <a:bodyPr/>
                    <a:lstStyle/>
                    <a:p>
                      <a:pPr algn="l" indent="0" marL="0">
                        <a:buNone/>
                      </a:pPr>
                      <a:r>
                        <a:rPr lang="en-US" sz="1100" dirty="0">
                          <a:solidFill>
                            <a:srgbClr val="0A1929"/>
                          </a:solidFill>
                          <a:latin typeface="HUK Sans" pitchFamily="34" charset="0"/>
                          <a:ea typeface="HUK Sans" pitchFamily="34" charset="-122"/>
                          <a:cs typeface="HUK Sans" pitchFamily="34" charset="-120"/>
                        </a:rPr>
                        <a:t>Reifer Vertrag, schadenfrei</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900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880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750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+150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+82</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+150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tatsächlich</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r>
              <a:tr h="365760">
                <a:tc>
                  <a:txBody>
                    <a:bodyPr/>
                    <a:lstStyle/>
                    <a:p>
                      <a:pPr algn="l" indent="0" marL="0">
                        <a:buNone/>
                      </a:pPr>
                      <a:r>
                        <a:rPr lang="en-US" sz="1100" dirty="0">
                          <a:solidFill>
                            <a:srgbClr val="0A1929"/>
                          </a:solidFill>
                          <a:latin typeface="HUK Sans" pitchFamily="34" charset="0"/>
                          <a:ea typeface="HUK Sans" pitchFamily="34" charset="-122"/>
                          <a:cs typeface="HUK Sans" pitchFamily="34" charset="-120"/>
                        </a:rPr>
                        <a:t>Kosten über Tarifsicht</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1.200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950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1.000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+200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+316</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+316</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Untergrenze</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0A1929"/>
                          </a:solidFill>
                          <a:latin typeface="HUK Sans" pitchFamily="34" charset="0"/>
                          <a:ea typeface="HUK Sans" pitchFamily="34" charset="-122"/>
                          <a:cs typeface="HUK Sans" pitchFamily="34" charset="-120"/>
                        </a:rPr>
                        <a:t>Neuvertrag mit Mahnverfahren</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1.000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1.000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1.010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+70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−60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Abzug 50 €</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r>
            </a:tbl>
          </a:graphicData>
        </a:graphic>
      </p:graphicFrame>
      <p:sp>
        <p:nvSpPr>
          <p:cNvPr id="9" name="Shape 6"/>
          <p:cNvSpPr/>
          <p:nvPr/>
        </p:nvSpPr>
        <p:spPr>
          <a:xfrm>
            <a:off x="273406" y="3977640"/>
            <a:ext cx="3721608" cy="1783080"/>
          </a:xfrm>
          <a:prstGeom prst="roundRect">
            <a:avLst>
              <a:gd name="adj" fmla="val 3077"/>
            </a:avLst>
          </a:prstGeom>
          <a:solidFill>
            <a:srgbClr val="001631"/>
          </a:solidFill>
          <a:ln w="12700">
            <a:solidFill>
              <a:srgbClr val="001631"/>
            </a:solidFill>
            <a:prstDash val="solid"/>
          </a:ln>
        </p:spPr>
      </p:sp>
      <p:sp>
        <p:nvSpPr>
          <p:cNvPr id="10" name="Text 7"/>
          <p:cNvSpPr/>
          <p:nvPr/>
        </p:nvSpPr>
        <p:spPr>
          <a:xfrm>
            <a:off x="502006" y="4142232"/>
            <a:ext cx="3264408" cy="457200"/>
          </a:xfrm>
          <a:prstGeom prst="rect">
            <a:avLst/>
          </a:prstGeom>
          <a:noFill/>
          <a:ln/>
        </p:spPr>
        <p:txBody>
          <a:bodyPr wrap="square" lIns="0" tIns="0" rIns="0" bIns="0" rtlCol="0" anchor="ctr"/>
          <a:lstStyle/>
          <a:p>
            <a:pPr indent="0" marL="0">
              <a:buNone/>
            </a:pPr>
            <a:r>
              <a:rPr lang="en-US" sz="1300" b="1" dirty="0">
                <a:solidFill>
                  <a:srgbClr val="FFED00"/>
                </a:solidFill>
                <a:latin typeface="HUK Sans Black" pitchFamily="34" charset="0"/>
                <a:ea typeface="HUK Sans Black" pitchFamily="34" charset="-122"/>
                <a:cs typeface="HUK Sans Black" pitchFamily="34" charset="-120"/>
              </a:rPr>
              <a:t>Der Neuvertrag ist der Fall, um den es geht</a:t>
            </a:r>
            <a:endParaRPr lang="en-US" sz="1300" dirty="0"/>
          </a:p>
        </p:txBody>
      </p:sp>
      <p:sp>
        <p:nvSpPr>
          <p:cNvPr id="11" name="Text 8"/>
          <p:cNvSpPr/>
          <p:nvPr/>
        </p:nvSpPr>
        <p:spPr>
          <a:xfrm>
            <a:off x="502006" y="4663440"/>
            <a:ext cx="3264408" cy="960120"/>
          </a:xfrm>
          <a:prstGeom prst="rect">
            <a:avLst/>
          </a:prstGeom>
          <a:noFill/>
          <a:ln/>
        </p:spPr>
        <p:txBody>
          <a:bodyPr wrap="square" lIns="0" tIns="0" rIns="0" bIns="0" rtlCol="0" anchor="ctr"/>
          <a:lstStyle/>
          <a:p>
            <a:pPr indent="0" marL="0">
              <a:lnSpc>
                <a:spcPct val="108000"/>
              </a:lnSpc>
              <a:buNone/>
            </a:pPr>
            <a:r>
              <a:rPr lang="en-US" sz="1100" dirty="0">
                <a:solidFill>
                  <a:srgbClr val="D2E1E5"/>
                </a:solidFill>
                <a:latin typeface="HUK Sans" pitchFamily="34" charset="0"/>
                <a:ea typeface="HUK Sans" pitchFamily="34" charset="-122"/>
                <a:cs typeface="HUK Sans" pitchFamily="34" charset="-120"/>
              </a:rPr>
              <a:t>Sein eigenes Jahresergebnis liegt bei −10 €. Über die Untergrenze wird daraus +70 € — die im Tarif kalkulierte Marge. Ohne diese Korrektur würde die Steuerung ihn als Verlustbringer führen.</a:t>
            </a:r>
            <a:endParaRPr lang="en-US" sz="1100" dirty="0"/>
          </a:p>
        </p:txBody>
      </p:sp>
      <p:sp>
        <p:nvSpPr>
          <p:cNvPr id="12" name="Shape 9"/>
          <p:cNvSpPr/>
          <p:nvPr/>
        </p:nvSpPr>
        <p:spPr>
          <a:xfrm>
            <a:off x="4223614" y="3977640"/>
            <a:ext cx="3721608" cy="1783080"/>
          </a:xfrm>
          <a:prstGeom prst="roundRect">
            <a:avLst>
              <a:gd name="adj" fmla="val 3077"/>
            </a:avLst>
          </a:prstGeom>
          <a:solidFill>
            <a:srgbClr val="F4F7F8"/>
          </a:solidFill>
          <a:ln w="12700">
            <a:solidFill>
              <a:srgbClr val="D2E1E5"/>
            </a:solidFill>
            <a:prstDash val="solid"/>
          </a:ln>
        </p:spPr>
      </p:sp>
      <p:sp>
        <p:nvSpPr>
          <p:cNvPr id="13" name="Text 10"/>
          <p:cNvSpPr/>
          <p:nvPr/>
        </p:nvSpPr>
        <p:spPr>
          <a:xfrm>
            <a:off x="4452214" y="4142232"/>
            <a:ext cx="3264408" cy="457200"/>
          </a:xfrm>
          <a:prstGeom prst="rect">
            <a:avLst/>
          </a:prstGeom>
          <a:noFill/>
          <a:ln/>
        </p:spPr>
        <p:txBody>
          <a:bodyPr wrap="square" lIns="0" tIns="0" rIns="0" bIns="0" rtlCol="0" anchor="ctr"/>
          <a:lstStyle/>
          <a:p>
            <a:pPr indent="0" marL="0">
              <a:buNone/>
            </a:pPr>
            <a:r>
              <a:rPr lang="en-US" sz="1300" b="1" dirty="0">
                <a:solidFill>
                  <a:srgbClr val="001631"/>
                </a:solidFill>
                <a:latin typeface="HUK Sans Black" pitchFamily="34" charset="0"/>
                <a:ea typeface="HUK Sans Black" pitchFamily="34" charset="-122"/>
                <a:cs typeface="HUK Sans Black" pitchFamily="34" charset="-120"/>
              </a:rPr>
              <a:t>Beim reifen Vertrag greift sie nicht</a:t>
            </a:r>
            <a:endParaRPr lang="en-US" sz="1300" dirty="0"/>
          </a:p>
        </p:txBody>
      </p:sp>
      <p:sp>
        <p:nvSpPr>
          <p:cNvPr id="14" name="Text 11"/>
          <p:cNvSpPr/>
          <p:nvPr/>
        </p:nvSpPr>
        <p:spPr>
          <a:xfrm>
            <a:off x="4452214" y="4663440"/>
            <a:ext cx="3264408" cy="960120"/>
          </a:xfrm>
          <a:prstGeom prst="rect">
            <a:avLst/>
          </a:prstGeom>
          <a:noFill/>
          <a:ln/>
        </p:spPr>
        <p:txBody>
          <a:bodyPr wrap="square" lIns="0" tIns="0" rIns="0" bIns="0" rtlCol="0" anchor="ctr"/>
          <a:lstStyle/>
          <a:p>
            <a:pPr indent="0" marL="0">
              <a:lnSpc>
                <a:spcPct val="108000"/>
              </a:lnSpc>
              <a:buNone/>
            </a:pPr>
            <a:r>
              <a:rPr lang="en-US" sz="1100" dirty="0">
                <a:solidFill>
                  <a:srgbClr val="3A5060"/>
                </a:solidFill>
                <a:latin typeface="HUK Sans" pitchFamily="34" charset="0"/>
                <a:ea typeface="HUK Sans" pitchFamily="34" charset="-122"/>
                <a:cs typeface="HUK Sans" pitchFamily="34" charset="-120"/>
              </a:rPr>
              <a:t>Seine Marge ist über die Jahre gewachsen, das tatsächliche Ergebnis liegt mit +150 € über der Untergrenze. Wo die Marge bereits gewachsen ist, greift die Korrektur also nicht.</a:t>
            </a:r>
            <a:endParaRPr lang="en-US" sz="1100" dirty="0"/>
          </a:p>
        </p:txBody>
      </p:sp>
      <p:sp>
        <p:nvSpPr>
          <p:cNvPr id="15" name="Shape 12"/>
          <p:cNvSpPr/>
          <p:nvPr/>
        </p:nvSpPr>
        <p:spPr>
          <a:xfrm>
            <a:off x="8173822" y="3977640"/>
            <a:ext cx="3721608" cy="1783080"/>
          </a:xfrm>
          <a:prstGeom prst="roundRect">
            <a:avLst>
              <a:gd name="adj" fmla="val 3077"/>
            </a:avLst>
          </a:prstGeom>
          <a:solidFill>
            <a:srgbClr val="F4F7F8"/>
          </a:solidFill>
          <a:ln w="12700">
            <a:solidFill>
              <a:srgbClr val="D2E1E5"/>
            </a:solidFill>
            <a:prstDash val="solid"/>
          </a:ln>
        </p:spPr>
      </p:sp>
      <p:sp>
        <p:nvSpPr>
          <p:cNvPr id="16" name="Text 13"/>
          <p:cNvSpPr/>
          <p:nvPr/>
        </p:nvSpPr>
        <p:spPr>
          <a:xfrm>
            <a:off x="8402422" y="4142232"/>
            <a:ext cx="3264408" cy="457200"/>
          </a:xfrm>
          <a:prstGeom prst="rect">
            <a:avLst/>
          </a:prstGeom>
          <a:noFill/>
          <a:ln/>
        </p:spPr>
        <p:txBody>
          <a:bodyPr wrap="square" lIns="0" tIns="0" rIns="0" bIns="0" rtlCol="0" anchor="ctr"/>
          <a:lstStyle/>
          <a:p>
            <a:pPr indent="0" marL="0">
              <a:buNone/>
            </a:pPr>
            <a:r>
              <a:rPr lang="en-US" sz="1300" b="1" dirty="0">
                <a:solidFill>
                  <a:srgbClr val="001631"/>
                </a:solidFill>
                <a:latin typeface="HUK Sans Black" pitchFamily="34" charset="0"/>
                <a:ea typeface="HUK Sans Black" pitchFamily="34" charset="-122"/>
                <a:cs typeface="HUK Sans Black" pitchFamily="34" charset="-120"/>
              </a:rPr>
              <a:t>Ausschlaggebend ist nur ein Vergleich</a:t>
            </a:r>
            <a:endParaRPr lang="en-US" sz="1300" dirty="0"/>
          </a:p>
        </p:txBody>
      </p:sp>
      <p:sp>
        <p:nvSpPr>
          <p:cNvPr id="17" name="Text 14"/>
          <p:cNvSpPr/>
          <p:nvPr/>
        </p:nvSpPr>
        <p:spPr>
          <a:xfrm>
            <a:off x="8402422" y="4663440"/>
            <a:ext cx="3264408" cy="960120"/>
          </a:xfrm>
          <a:prstGeom prst="rect">
            <a:avLst/>
          </a:prstGeom>
          <a:noFill/>
          <a:ln/>
        </p:spPr>
        <p:txBody>
          <a:bodyPr wrap="square" lIns="0" tIns="0" rIns="0" bIns="0" rtlCol="0" anchor="ctr"/>
          <a:lstStyle/>
          <a:p>
            <a:pPr indent="0" marL="0">
              <a:lnSpc>
                <a:spcPct val="108000"/>
              </a:lnSpc>
              <a:buNone/>
            </a:pPr>
            <a:r>
              <a:rPr lang="en-US" sz="1100" dirty="0">
                <a:solidFill>
                  <a:srgbClr val="3A5060"/>
                </a:solidFill>
                <a:latin typeface="HUK Sans" pitchFamily="34" charset="0"/>
                <a:ea typeface="HUK Sans" pitchFamily="34" charset="-122"/>
                <a:cs typeface="HUK Sans" pitchFamily="34" charset="-120"/>
              </a:rPr>
              <a:t>Ob die Untergrenze greift, hängt allein davon ab, ob die Best-Estimate-Kosten über B_NT × 0,93 liegen. Der Beitrag steht in beiden Rechnungen und spielt für die Auswahl keine Rolle.</a:t>
            </a:r>
            <a:endParaRPr lang="en-US" sz="1100" dirty="0"/>
          </a:p>
        </p:txBody>
      </p:sp>
      <p:sp>
        <p:nvSpPr>
          <p:cNvPr id="18" name="Text 15"/>
          <p:cNvSpPr/>
          <p:nvPr/>
        </p:nvSpPr>
        <p:spPr>
          <a:xfrm>
            <a:off x="273406" y="5961888"/>
            <a:ext cx="11338560" cy="365760"/>
          </a:xfrm>
          <a:prstGeom prst="rect">
            <a:avLst/>
          </a:prstGeom>
          <a:noFill/>
          <a:ln/>
        </p:spPr>
        <p:txBody>
          <a:bodyPr wrap="square" lIns="0" tIns="0" rIns="0" bIns="0" rtlCol="0" anchor="ctr"/>
          <a:lstStyle/>
          <a:p>
            <a:pPr indent="0" marL="0">
              <a:lnSpc>
                <a:spcPct val="104000"/>
              </a:lnSpc>
              <a:buNone/>
            </a:pPr>
            <a:r>
              <a:rPr lang="en-US" sz="1000" i="1" dirty="0">
                <a:solidFill>
                  <a:srgbClr val="6B8A9A"/>
                </a:solidFill>
                <a:latin typeface="HUK Sans" pitchFamily="34" charset="0"/>
                <a:ea typeface="HUK Sans" pitchFamily="34" charset="-122"/>
                <a:cs typeface="HUK Sans" pitchFamily="34" charset="-120"/>
              </a:rPr>
              <a:t>Zeile 3 ist der verbleibende Sonderfall: liegen die Best-Estimate-Kosten über B_NT × 0,93, greift die Untergrenze unabhängig vom Vertragsalter. Da beide Größen auf demselben Modell beruhen, ist der Abstand in der Regel gering. Zeile 4: der zweite Wert wird zwar berechnet, im Zweig für Zahlungsauffällige aber nicht verwendet.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Kundenwert – Bewertung von Neuverträgen</dc:title>
  <dc:subject>PptxGenJS Presentation</dc:subject>
  <dc:creator>Data Analytics</dc:creator>
  <cp:lastModifiedBy>Data Analytics</cp:lastModifiedBy>
  <cp:revision>1</cp:revision>
  <dcterms:created xsi:type="dcterms:W3CDTF">2026-08-12T19:29:01Z</dcterms:created>
  <dcterms:modified xsi:type="dcterms:W3CDTF">2026-08-12T19:29:01Z</dcterms:modified>
</cp:coreProperties>
</file>